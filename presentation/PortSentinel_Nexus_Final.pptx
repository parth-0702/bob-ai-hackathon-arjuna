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785c3af01a47b1" /><Relationship Type="http://schemas.openxmlformats.org/officeDocument/2006/relationships/extended-properties" Target="/docProps/app.xml" Id="R1e9fc6977d0e432d" /><Relationship Type="http://schemas.openxmlformats.org/officeDocument/2006/relationships/officeDocument" Target="/ppt/presentation.xml" Id="R2df89971e61b40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6e8e7b036e48e6"/>
  </p:sldMasterIdLst>
  <p:notesMasterIdLst>
    <p:notesMasterId xmlns:r="http://schemas.openxmlformats.org/officeDocument/2006/relationships" r:id="R91b0efb4ab1b4799"/>
  </p:notesMasterIdLst>
  <p:sldIdLst>
    <p:sldId xmlns:r="http://schemas.openxmlformats.org/officeDocument/2006/relationships" id="256" r:id="Rb0a1828b174841b4"/>
    <p:sldId xmlns:r="http://schemas.openxmlformats.org/officeDocument/2006/relationships" id="257" r:id="Rc382c7c5aac44bb4"/>
    <p:sldId xmlns:r="http://schemas.openxmlformats.org/officeDocument/2006/relationships" id="258" r:id="Rb2004bf328474d34"/>
    <p:sldId xmlns:r="http://schemas.openxmlformats.org/officeDocument/2006/relationships" id="259" r:id="R2aee752fded243d2"/>
    <p:sldId xmlns:r="http://schemas.openxmlformats.org/officeDocument/2006/relationships" id="260" r:id="Rb7e2f8fd026642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84c10b906d4971" /><Relationship Type="http://schemas.openxmlformats.org/officeDocument/2006/relationships/slideMaster" Target="/ppt/slideMasters/slideMaster1.xml" Id="R136e8e7b036e48e6" /><Relationship Type="http://schemas.openxmlformats.org/officeDocument/2006/relationships/notesMaster" Target="/ppt/notesMasters/notesMaster1.xml" Id="R91b0efb4ab1b4799" /><Relationship Type="http://schemas.openxmlformats.org/officeDocument/2006/relationships/presProps" Target="/ppt/presProps.xml" Id="Rf9d3a5fb102941a0" /><Relationship Type="http://schemas.openxmlformats.org/officeDocument/2006/relationships/viewProps" Target="/ppt/viewProps.xml" Id="R5f738f79beae420b" /><Relationship Type="http://schemas.openxmlformats.org/officeDocument/2006/relationships/tableStyles" Target="/ppt/tableStyles.xml" Id="R30dbcb1a0e474309" /><Relationship Type="http://schemas.openxmlformats.org/officeDocument/2006/relationships/slide" Target="/ppt/slides/slide1.xml" Id="Rb0a1828b174841b4" /><Relationship Type="http://schemas.openxmlformats.org/officeDocument/2006/relationships/slide" Target="/ppt/slides/slide2.xml" Id="Rc382c7c5aac44bb4" /><Relationship Type="http://schemas.openxmlformats.org/officeDocument/2006/relationships/slide" Target="/ppt/slides/slide3.xml" Id="Rb2004bf328474d34" /><Relationship Type="http://schemas.openxmlformats.org/officeDocument/2006/relationships/slide" Target="/ppt/slides/slide4.xml" Id="R2aee752fded243d2" /><Relationship Type="http://schemas.openxmlformats.org/officeDocument/2006/relationships/slide" Target="/ppt/slides/slide5.xml" Id="Rb7e2f8fd026642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8b7dd81b9441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528c7378284ea4" /><Relationship Type="http://schemas.openxmlformats.org/officeDocument/2006/relationships/notesMaster" Target="/ppt/notesMasters/notesMaster1.xml" Id="Rc20598f7554e49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3121d5ac3c4109" /><Relationship Type="http://schemas.openxmlformats.org/officeDocument/2006/relationships/notesMaster" Target="/ppt/notesMasters/notesMaster1.xml" Id="Rec72684537de44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da44ec654e4731" /><Relationship Type="http://schemas.openxmlformats.org/officeDocument/2006/relationships/notesMaster" Target="/ppt/notesMasters/notesMaster1.xml" Id="Rbaff2192e4b249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0f510c9f2d4a4f" /><Relationship Type="http://schemas.openxmlformats.org/officeDocument/2006/relationships/notesMaster" Target="/ppt/notesMasters/notesMaster1.xml" Id="Ra805cbe0f39143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ef9a557890434b" /><Relationship Type="http://schemas.openxmlformats.org/officeDocument/2006/relationships/notesMaster" Target="/ppt/notesMasters/notesMaster1.xml" Id="R94372c4d47ac40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based on docs/problem-statement.md. Kandla is the reference setting, not evidence of measured operational congestion.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dashboard screenshot retained from the updated deck. Sources: docs/solution-overview.md and docs/architecture.md. Operational plans are saved and not executed.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src/backend/app/congestion.py; src/backend/app/failure_model.py. Model 1 is the supplied calibrated XGBoost classifier with unconfirmed class semantics and proxy preprocessing. Model 2 is a deterministic berth queue, not a trained ML congestion model. Groq selects/orders backend facts for explanation 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docs/solution-overview.md, IBM Technologies Used. The documentation explicitly does not claim successful IBM inference or Bob-assisted development history. This diagram is an intended engineering role, not evidence of completed IBM usage. Groq is the configured runtime explanation provider. No watsonx implementation is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Vision retained from the updated source deck. Current benefits are prototype capabilities, not measured field results. Pilot, enterprise and scale stages are planned. Port operations are simulated; external Open-Meteo weather is separately labelled.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7edc73f5e493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4c47262d804197" /><Relationship Type="http://schemas.openxmlformats.org/officeDocument/2006/relationships/slideLayout" Target="/ppt/slideLayouts/slideLayout1.xml" Id="R6dc129d7032a466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c129d7032a466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000fc35be4532" /><Relationship Type="http://schemas.openxmlformats.org/officeDocument/2006/relationships/notesSlide" Target="/ppt/notesSlides/notesSlide1.xml" Id="Rbd031e2844f04c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a531d897d4fa0" /><Relationship Type="http://schemas.openxmlformats.org/officeDocument/2006/relationships/image" Target="/ppt/media/image.png" Id="R0a81e9b2b0b84cb9" /><Relationship Type="http://schemas.openxmlformats.org/officeDocument/2006/relationships/notesSlide" Target="/ppt/notesSlides/notesSlide2.xml" Id="R2cf71649c74842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670c2bfe642d3" /><Relationship Type="http://schemas.openxmlformats.org/officeDocument/2006/relationships/image" Target="/ppt/media/image2.png" Id="Rd4224c3340e34321" /><Relationship Type="http://schemas.openxmlformats.org/officeDocument/2006/relationships/notesSlide" Target="/ppt/notesSlides/notesSlide3.xml" Id="R0bb48b061d6742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eef79e785487b" /><Relationship Type="http://schemas.openxmlformats.org/officeDocument/2006/relationships/notesSlide" Target="/ppt/notesSlides/notesSlide4.xml" Id="R1c8c4480c2644d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1e1d580cc43da" /><Relationship Type="http://schemas.openxmlformats.org/officeDocument/2006/relationships/notesSlide" Target="/ppt/notesSlides/notesSlide5.xml" Id="R932f5cbe45c349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436ED-AE88-42F6-B05E-1437610C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D6C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57086-0626-4D98-BFA6-FE0E25E2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PORTSENTINEL NEXUS   /   ARJUNA   /   L1 + U1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378CA-EA11-40A5-8B3A-F61B2B48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56C92-4D8F-430C-AE4F-6E65E5B0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8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A9D86"/>
                </a:solidFill>
                <a:latin typeface="Calibri"/>
                <a:ea typeface="Calibri"/>
                <a:cs typeface="Calibri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CBC5D-013C-45D3-98F9-71FC8AFC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333"/>
                </a:solidFill>
                <a:latin typeface="Cambria"/>
                <a:ea typeface="Cambria"/>
                <a:cs typeface="Cambria"/>
              </a:defRPr>
            </a:pPr>
            <a:r>
              <a:rPr sz="3150" b="1">
                <a:solidFill>
                  <a:srgbClr val="1B2333"/>
                </a:solidFill>
                <a:latin typeface="Cambria"/>
                <a:ea typeface="Cambria"/>
                <a:cs typeface="Cambria"/>
              </a:rPr>
              <a:t>One equipment issue can become a port bottleneck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81931-4F57-4D9A-8376-95C5B7D1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288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9D8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41008-F2B4-4F5B-9740-0AE14CDA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Reactive, not predictive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E04E7-0AE7-48BD-B931-7589F06D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Delays become visible after they reach berths and cranes.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ED0B3-6801-4B3D-83E4-47A24625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9D8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0C23C-71E3-472B-809B-EA1B7A91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Risk tracked in silos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8385C-5D1F-4145-9C25-29C0C8E1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Equipment health and weather sit apart from congestion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75276-DDAB-40DA-8F08-415E7419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9D8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6C66D-1CDA-46F3-A710-3229EB0B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96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Small issues cascade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030FB-3549-4F1F-BF39-348A18F3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48225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One at-risk asset can affect capacity and vessel queues.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EBEB4-3A74-475D-B428-3BC24B0D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52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THE CAUSAL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D35E1-038B-4514-8B48-0D0BF26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479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D6C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DBF57-3A08-4CC6-A76C-752E09AF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4A90F-FA55-4CBF-AEE6-C5946B90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Weather / Equipment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2100C-03E0-4019-8A0C-1C505430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7FBD5-51EA-40A6-B164-3A762596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65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Asset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762C8-76A8-4FF5-B26A-5BCF0393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EACE3-56C1-47E7-8898-B2DB443C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623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Reduced Capacity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721BE2-EBEC-4944-B416-7F61732E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F5287-F41F-4D3D-B805-AA16D2BD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481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Vessel Delay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C31708-B26C-420A-B2E1-1DA2EF3E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19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61A81C-976C-4023-88C7-30DB85EB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339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Queue Growth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5B060-B841-446B-A6D7-9AE48D79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705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92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1DD3BF-E011-41CA-9405-0943D2DB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97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E514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E5148"/>
                </a:solidFill>
                <a:latin typeface="Calibri"/>
                <a:ea typeface="Calibri"/>
                <a:cs typeface="Calibri"/>
              </a:rPr>
              <a:t>Port Congestion</a:t>
            </a:r>
          </a:p>
        </p:txBody>
      </p:sp>
    </p:spTree>
    <p:extLst>
      <p:ext uri="{BB962C8B-B14F-4D97-AF65-F5344CB8AC3E}">
        <p14:creationId xmlns:p14="http://schemas.microsoft.com/office/powerpoint/2010/main" val="116823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1e9b2b0b84c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38550" y="1771650"/>
            <a:ext cx="7962900" cy="37338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29DFCE-D16B-4200-9DD6-FA6FF439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D6C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1FD5B5-9B94-40B0-A934-F1281DC7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PORTSENTINEL NEXUS   /   ARJUNA   /   L1 + U1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350859-A5A9-4B35-940F-D31E1175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8D401B-E6C0-491B-8DA6-06C6F260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8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A9D86"/>
                </a:solidFill>
                <a:latin typeface="Calibri"/>
                <a:ea typeface="Calibri"/>
                <a:cs typeface="Calibri"/>
              </a:rPr>
              <a:t>SOLUTION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D7995B-0149-40F0-967E-696EE272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333"/>
                </a:solidFill>
                <a:latin typeface="Cambria"/>
                <a:ea typeface="Cambria"/>
                <a:cs typeface="Cambria"/>
              </a:defRPr>
            </a:pPr>
            <a:r>
              <a:rPr sz="3150" b="1">
                <a:solidFill>
                  <a:srgbClr val="1B2333"/>
                </a:solidFill>
                <a:latin typeface="Cambria"/>
                <a:ea typeface="Cambria"/>
                <a:cs typeface="Cambria"/>
              </a:rPr>
              <a:t>See the bottleneck before it becomes congestion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E91E28-066C-4558-B27B-376D600B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E5148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1E5148"/>
                </a:solidFill>
                <a:latin typeface="Cambria"/>
                <a:ea typeface="Cambria"/>
                <a:cs typeface="Cambria"/>
              </a:rPr>
              <a:t>SEE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BADD67-133F-4CBB-92FE-E9FB8AF1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280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Live Port 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636675-9464-40C9-B700-0A12CDAC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D6C9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8A21F0-DDFB-45EF-AC82-515C7403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E5148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1E5148"/>
                </a:solidFill>
                <a:latin typeface="Cambria"/>
                <a:ea typeface="Cambria"/>
                <a:cs typeface="Cambria"/>
              </a:rPr>
              <a:t>PREDICT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95792F-CC2B-4DCD-B118-8B701178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280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Alerts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FC7FD1-4125-44A6-A220-E349F286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624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D6C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077878-FC05-40A5-BEE8-67F65D1C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E5148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1E5148"/>
                </a:solidFill>
                <a:latin typeface="Cambria"/>
                <a:ea typeface="Cambria"/>
                <a:cs typeface="Cambria"/>
              </a:rPr>
              <a:t>DECIDE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195254-87E0-4DA3-A9F9-0910B081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9175"/>
            <a:ext cx="280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Approvals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4F98DB-3249-4F1E-A7CC-A40ED5A9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05450"/>
            <a:ext cx="796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Kandla example. Simulated operations. Actual product interface.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B06AC2-6AE6-4155-9D9E-24E5C99B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04837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D6C9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1107BE-3F95-4FD2-A40A-02241391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C8888E-84A3-4FF3-89A7-75A44C93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Data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F99039-2C23-4A42-A7E0-2DC733C7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224161-07C6-45C1-BE95-50F7C110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63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Prediction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B74791-6D17-4789-A55F-7293C7CA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7A8443-7216-4A53-B7CF-1D3CEBA6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Recommendation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67893D-DF9F-44A9-9CB3-8844A1B5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926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DE7860-13FA-4630-896F-27CADD99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38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7926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C97926"/>
                </a:solidFill>
                <a:latin typeface="Calibri"/>
                <a:ea typeface="Calibri"/>
                <a:cs typeface="Calibri"/>
              </a:rPr>
              <a:t>Human Approval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831273-0FF6-48D0-B8ED-5F69D2D8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BA00FA-673B-47EF-9485-FCE8C9F9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Operational Plan</a:t>
            </a:r>
          </a:p>
        </p:txBody>
      </p:sp>
    </p:spTree>
    <p:extLst>
      <p:ext uri="{BB962C8B-B14F-4D97-AF65-F5344CB8AC3E}">
        <p14:creationId xmlns:p14="http://schemas.microsoft.com/office/powerpoint/2010/main" val="18701887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24c3340e343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905000"/>
            <a:ext cx="6210300" cy="29718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096C1C-7DD7-44D0-B2E6-4F139D69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D6C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FBD020-2461-4359-832D-5DD78F46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PORTSENTINEL NEXUS   /   ARJUNA   /   L1 + U1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962234-5B81-4DD4-B61D-0E06BD4F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BE2E35-3B56-451F-A4A7-DD902896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8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A9D86"/>
                </a:solidFill>
                <a:latin typeface="Calibri"/>
                <a:ea typeface="Calibri"/>
                <a:cs typeface="Calibri"/>
              </a:rPr>
              <a:t>DEMO / ARCHITECTURE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07679-5A2F-4EED-BD36-FEAC89A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333"/>
                </a:solidFill>
                <a:latin typeface="Cambria"/>
                <a:ea typeface="Cambria"/>
                <a:cs typeface="Cambria"/>
              </a:defRPr>
            </a:pPr>
            <a:r>
              <a:rPr sz="3150" b="1">
                <a:solidFill>
                  <a:srgbClr val="1B2333"/>
                </a:solidFill>
                <a:latin typeface="Cambria"/>
                <a:ea typeface="Cambria"/>
                <a:cs typeface="Cambria"/>
              </a:rPr>
              <a:t>The documented system behind the product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56D9E8-DD04-4D66-A830-B88B8E66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621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Actual PortSentinel dashboard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BB7E1A-3B73-4915-8FEF-575991BE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43525"/>
            <a:ext cx="6210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514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E5148"/>
                </a:solidFill>
                <a:latin typeface="Calibri"/>
                <a:ea typeface="Calibri"/>
                <a:cs typeface="Calibri"/>
              </a:rPr>
              <a:t>React + Three.js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B13517-6460-4674-B59A-79570083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6210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FastAPI backend   /   SQLite persistence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A73DF1-DA96-496D-8A25-C820ADBB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00225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D6C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78E7A3-3284-4C61-8CE5-3D494781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00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74BC9D-AE5D-4C75-B76D-CFDB99A9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145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Vessel + Weather + Asset / Berth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164F97-A446-4A59-8C21-EB07D60B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05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1A0AB7-394B-40A2-9FB3-64D409F8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193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PortSentinel Nexus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E7E11A-8396-4170-B92D-91E739F7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89819E-2C90-4292-9945-9CFF352A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Model 1: Infrastructure Failure Risk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5881B3-C489-45DA-87F1-8B09A4DE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3DE8C6-1DE0-4E32-B1E2-B2DEDE6B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289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+ Model 2: Congestion Prediction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F0DC44-7912-4F2A-BBC7-D4B9DA01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861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Deterministic queue simulation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DFD849-325D-4158-B6E0-3DEF651D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82F1A9-4DC0-499F-ADB4-45564C0C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338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Risk / Congestion Signal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BB8C3C-3A33-498F-9406-14F0AE37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912805-CCCC-4B3B-8881-22023E01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386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Recommended Solution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5FDBCC-E183-4B4C-95DB-B586DC0D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29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6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35E1FE-3423-4096-BB78-56CBA7A5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434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514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E5148"/>
                </a:solidFill>
                <a:latin typeface="Calibri"/>
                <a:ea typeface="Calibri"/>
                <a:cs typeface="Calibri"/>
              </a:rPr>
              <a:t>Human Approval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2D7082-DF72-4587-B114-E744EAC2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334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6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14A488-29FB-4511-A112-0B6C1E42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482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514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E5148"/>
                </a:solidFill>
                <a:latin typeface="Calibri"/>
                <a:ea typeface="Calibri"/>
                <a:cs typeface="Calibri"/>
              </a:rPr>
              <a:t>Operational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288D0B-C2B4-4894-A665-99063DD2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88645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14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E5148"/>
                </a:solidFill>
                <a:latin typeface="Calibri"/>
                <a:ea typeface="Calibri"/>
                <a:cs typeface="Calibri"/>
              </a:rPr>
              <a:t>Groq explains backend findings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429F6F-ED41-429D-BB16-C3476DCE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153150"/>
            <a:ext cx="4400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Human approval stays explicit. Plans are not executed.</a:t>
            </a:r>
          </a:p>
        </p:txBody>
      </p:sp>
    </p:spTree>
    <p:extLst>
      <p:ext uri="{BB962C8B-B14F-4D97-AF65-F5344CB8AC3E}">
        <p14:creationId xmlns:p14="http://schemas.microsoft.com/office/powerpoint/2010/main" val="526481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6FCE5-2E92-4656-A5FD-DCCD3DE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D6C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633ED-A6F6-4C19-B64C-C3505EC7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PORTSENTINEL NEXUS   /   ARJUNA   /   L1 + U1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D0171-46E6-48F2-9D21-55C90555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AC54E-359D-441F-B236-1363C4C3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8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A9D86"/>
                </a:solidFill>
                <a:latin typeface="Calibri"/>
                <a:ea typeface="Calibri"/>
                <a:cs typeface="Calibri"/>
              </a:rPr>
              <a:t>IBM TECHNOLOGY INTEGRATION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C6577-402D-41A7-90A1-07DAA8EE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333"/>
                </a:solidFill>
                <a:latin typeface="Cambria"/>
                <a:ea typeface="Cambria"/>
                <a:cs typeface="Cambria"/>
              </a:defRPr>
            </a:pPr>
            <a:r>
              <a:rPr sz="3150" b="1">
                <a:solidFill>
                  <a:srgbClr val="1B2333"/>
                </a:solidFill>
                <a:latin typeface="Cambria"/>
                <a:ea typeface="Cambria"/>
                <a:cs typeface="Cambria"/>
              </a:rPr>
              <a:t>BOB assistance in software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52CEC-FC37-4DE0-8746-314283D7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792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97926"/>
                </a:solidFill>
                <a:latin typeface="Calibri"/>
                <a:ea typeface="Calibri"/>
                <a:cs typeface="Calibri"/>
              </a:rPr>
              <a:t>INTENDED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A34B6-63BC-463D-895B-70D97986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E5148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1E5148"/>
                </a:solidFill>
                <a:latin typeface="Cambria"/>
                <a:ea typeface="Cambria"/>
                <a:cs typeface="Cambria"/>
              </a:rPr>
              <a:t>“BOB accelerates the engineering behind PortSentinel.”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6E183-ACCC-459B-8784-711088F6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81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D6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87AEB-24A3-4CBE-8036-E585D91B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699EA-9780-4CCA-A89E-A8D2B33F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Requirement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8B380-FD2C-4C3F-A303-154BFFA2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92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4ABD6-6D57-4DE0-80C0-B6F51B5D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147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BOB assistance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E8998-D9F3-4E8B-A25C-95AE5ECB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0DEE7-9D6C-494A-A1B7-EE6DC075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Backend / API</a:t>
            </a:r>
          </a:p>
          <a:p xmlns:a="http://schemas.openxmlformats.org/drawingml/2006/main">
            <a:pPr>
              <a:defRPr sz="1800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+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B9AE1-C890-4AC6-855A-83A24B61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B1E2C-F7F8-40BF-BBAF-83EA84FE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Testing / Debugging</a:t>
            </a:r>
          </a:p>
          <a:p xmlns:a="http://schemas.openxmlformats.org/drawingml/2006/main">
            <a:pPr>
              <a:defRPr sz="1800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/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426CA-2CF5-4609-87C4-450F296E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14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A13DC-21D9-4459-9462-0CFA41AD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Integration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3DD73-6656-42F3-A767-C8632D8D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E5148"/>
                </a:solidFill>
                <a:latin typeface="Cambria"/>
                <a:ea typeface="Cambria"/>
                <a:cs typeface="Cambria"/>
              </a:defRPr>
            </a:pPr>
            <a:r>
              <a:rPr sz="2175" b="1">
                <a:solidFill>
                  <a:srgbClr val="1E5148"/>
                </a:solidFill>
                <a:latin typeface="Cambria"/>
                <a:ea typeface="Cambria"/>
                <a:cs typeface="Cambria"/>
              </a:rPr>
              <a:t>PORTSENTINEL NEXUS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786F5-F733-4913-A5A9-2E236D68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Engineering support includes implementation, integration and documentation.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900AA-88C2-4862-931F-B40AEDF8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BOB-assisted development is not verified in the project docs. watsonx is not implemented.</a:t>
            </a:r>
          </a:p>
        </p:txBody>
      </p:sp>
    </p:spTree>
    <p:extLst>
      <p:ext uri="{BB962C8B-B14F-4D97-AF65-F5344CB8AC3E}">
        <p14:creationId xmlns:p14="http://schemas.microsoft.com/office/powerpoint/2010/main" val="1406649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530488-5819-42A8-B6C5-6AAFE947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D6C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AB6BD-0FB8-4727-A41E-3F946DF4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PORTSENTINEL NEXUS   /   ARJUNA   /   L1 + U1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D8DD9-F9A3-459E-9390-5C9A4B7B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294A5-8FDF-42F0-B2A7-F494B205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8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A9D86"/>
                </a:solidFill>
                <a:latin typeface="Calibri"/>
                <a:ea typeface="Calibri"/>
                <a:cs typeface="Calibri"/>
              </a:rPr>
              <a:t>IMPACT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709E8-49F2-406A-934C-1BB51E03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333"/>
                </a:solidFill>
                <a:latin typeface="Cambria"/>
                <a:ea typeface="Cambria"/>
                <a:cs typeface="Cambria"/>
              </a:defRPr>
            </a:pPr>
            <a:r>
              <a:rPr sz="3150" b="1">
                <a:solidFill>
                  <a:srgbClr val="1B2333"/>
                </a:solidFill>
                <a:latin typeface="Cambria"/>
                <a:ea typeface="Cambria"/>
                <a:cs typeface="Cambria"/>
              </a:rPr>
              <a:t>A path beyond the Kandla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84F57-B25D-4916-959C-BAAC9A4C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D6C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4461B-7509-4F19-92B8-9D17A11A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E5148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E5148"/>
                </a:solidFill>
                <a:latin typeface="Cambria"/>
                <a:ea typeface="Cambria"/>
                <a:cs typeface="Cambria"/>
              </a:rP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81408-B601-4D35-9062-314616E2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27A14-C530-4F29-86A2-14A1C8F3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9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4F18C-EB3E-4F76-8CF0-B0619A2F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Earlier bottleneck visibility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6B998-CDA0-4C63-B30F-8D9F5687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Connect risk to capacity and queue estimates.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4965B-94B9-4E56-8695-20FEEA01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E5148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E5148"/>
                </a:solidFill>
                <a:latin typeface="Cambria"/>
                <a:ea typeface="Cambria"/>
                <a:cs typeface="Cambria"/>
              </a:rPr>
              <a:t>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33DBC-7E23-4832-B457-59A1E39E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050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Planned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DE8EB-B0C0-4D2A-91E1-16BB6951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A4819-21B2-4181-9A3B-CBE1018B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9087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Human-controlled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6076A-3F18-4D99-9A03-500DEF8A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57650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Validate with operators and actual equipment records.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B912D-FD6C-4CE6-9856-5914EE6F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764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E5148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E5148"/>
                </a:solidFill>
                <a:latin typeface="Cambria"/>
                <a:ea typeface="Cambria"/>
                <a:cs typeface="Cambria"/>
              </a:rPr>
              <a:t>ENTERPRISE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84AF8-C375-4173-B9F5-03CD114F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050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Planned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ABA09-AFD4-4119-B024-8EC1F7A9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C29E2-DE88-4BAF-BB25-A2008CFA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9087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Credible, transparent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ADE71-C203-487B-BFC0-09545184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57650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Integrate systems and retain source provenance.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FB64D5-4531-45CF-A35A-3FE70CE4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E5148"/>
                </a:solidFill>
                <a:latin typeface="Cambria"/>
                <a:ea typeface="Cambria"/>
                <a:cs typeface="Cambria"/>
              </a:defRPr>
            </a:pPr>
            <a:r>
              <a:rPr sz="2400" b="1">
                <a:solidFill>
                  <a:srgbClr val="1E5148"/>
                </a:solidFill>
                <a:latin typeface="Cambria"/>
                <a:ea typeface="Cambria"/>
                <a:cs typeface="Cambria"/>
              </a:rPr>
              <a:t>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BC1BA-43B8-4AFC-98C4-F985A63B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050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Planned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CD078-99B3-430B-92D8-8410988D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A68230-656E-4F78-A58A-302246D3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233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B2333"/>
                </a:solidFill>
                <a:latin typeface="Calibri"/>
                <a:ea typeface="Calibri"/>
                <a:cs typeface="Calibri"/>
              </a:rPr>
              <a:t>Extensible beyond one 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3BBF91-E24C-49C0-A6FE-7C81E95D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57650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47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86477"/>
                </a:solidFill>
                <a:latin typeface="Calibri"/>
                <a:ea typeface="Calibri"/>
                <a:cs typeface="Calibri"/>
              </a:rPr>
              <a:t>Adapt the configuration and workflow to other ports.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415A53-A9DB-4F29-A447-6DFF033A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482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D6C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956248-2595-46EB-99B9-10126E2B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E5148"/>
                </a:solidFill>
                <a:latin typeface="Cambria"/>
                <a:ea typeface="Cambria"/>
                <a:cs typeface="Cambria"/>
              </a:defRPr>
            </a:pPr>
            <a:r>
              <a:rPr sz="2250" b="0">
                <a:solidFill>
                  <a:srgbClr val="1E5148"/>
                </a:solidFill>
                <a:latin typeface="Cambria"/>
                <a:ea typeface="Cambria"/>
                <a:cs typeface="Cambria"/>
              </a:rPr>
              <a:t>“A decision system that helps operators see risk early, understand it, and approve the right action before congestion occurs.”</a:t>
            </a:r>
          </a:p>
        </p:txBody>
      </p:sp>
    </p:spTree>
    <p:extLst>
      <p:ext uri="{BB962C8B-B14F-4D97-AF65-F5344CB8AC3E}">
        <p14:creationId xmlns:p14="http://schemas.microsoft.com/office/powerpoint/2010/main" val="4324745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2026-09-15T15:43:12.3110000Z</dcterms:created>
  <dcterms:modified xsi:type="dcterms:W3CDTF">2026-09-15T15:43:12.3120000Z</dcterms:modified>
</coreProperties>
</file>